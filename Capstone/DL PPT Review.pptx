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15"/>
  </p:notesMasterIdLst>
  <p:sldIdLst>
    <p:sldId id="319" r:id="rId2"/>
    <p:sldId id="444" r:id="rId3"/>
    <p:sldId id="443" r:id="rId4"/>
    <p:sldId id="316" r:id="rId5"/>
    <p:sldId id="417" r:id="rId6"/>
    <p:sldId id="420" r:id="rId7"/>
    <p:sldId id="422" r:id="rId8"/>
    <p:sldId id="445" r:id="rId9"/>
    <p:sldId id="421" r:id="rId10"/>
    <p:sldId id="419" r:id="rId11"/>
    <p:sldId id="427" r:id="rId12"/>
    <p:sldId id="428" r:id="rId13"/>
    <p:sldId id="44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55" autoAdjust="0"/>
    <p:restoredTop sz="94291" autoAdjust="0"/>
  </p:normalViewPr>
  <p:slideViewPr>
    <p:cSldViewPr>
      <p:cViewPr>
        <p:scale>
          <a:sx n="66" d="100"/>
          <a:sy n="66" d="100"/>
        </p:scale>
        <p:origin x="1240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73DF8-1B35-D161-829D-B5D6DE552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E5931D-96D5-335B-96A2-203B20075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3FC5A7-2036-1B4A-4066-BFF3A33E7F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6599-84A2-F3DC-E232-5695562F0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9231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FDD00-DCAF-AA87-9B69-BBF63B40D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7D253-FE6B-DC68-5CE4-C66BF82C1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28D06-E3A1-45F5-A0E4-513B2D9AE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EC372-FF39-0107-4314-C7A156D45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845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866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BB88F-1362-B8F2-98B4-49057AA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8A9F4-9915-1BF3-C5F1-B701BB7794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75F178-1B36-B6DB-C78F-5D1F62435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9927A3-CEC5-5D25-D42F-BCF10042D2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05667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93610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48126" y="1371600"/>
            <a:ext cx="8915400" cy="2742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Capstone Project 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 Based human drowning detection in swimming pools using YOLO V6 with deep learning.</a:t>
            </a:r>
            <a:endParaRPr lang="en-US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Team no: 7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MLA0403 – Deep Learning 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305800" y="6503032"/>
            <a:ext cx="209550" cy="218444"/>
          </a:xfrm>
        </p:spPr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2" name="Picture 2" descr="SSE-Computer Science and Engineering">
            <a:extLst>
              <a:ext uri="{FF2B5EF4-FFF2-40B4-BE49-F238E27FC236}">
                <a16:creationId xmlns:a16="http://schemas.microsoft.com/office/drawing/2014/main" id="{04655572-62AA-D50A-E101-7C3CEAC1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670" y="354968"/>
            <a:ext cx="8507730" cy="6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5CE320-DCB6-42A6-B8D7-630D24F65D7B}"/>
              </a:ext>
            </a:extLst>
          </p:cNvPr>
          <p:cNvSpPr txBox="1"/>
          <p:nvPr/>
        </p:nvSpPr>
        <p:spPr>
          <a:xfrm>
            <a:off x="685800" y="4319337"/>
            <a:ext cx="3657600" cy="17098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>
              <a:lnSpc>
                <a:spcPct val="150000"/>
              </a:lnSpc>
            </a:pPr>
            <a:r>
              <a:rPr lang="en-US" sz="18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Dr.A.M.Arul</a:t>
            </a: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Raj</a:t>
            </a:r>
            <a:endParaRPr lang="en-IN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IN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B38A6-646D-43B7-89AA-CAA3F3A4AE7C}"/>
              </a:ext>
            </a:extLst>
          </p:cNvPr>
          <p:cNvSpPr txBox="1"/>
          <p:nvPr/>
        </p:nvSpPr>
        <p:spPr>
          <a:xfrm>
            <a:off x="5334000" y="4343400"/>
            <a:ext cx="2743200" cy="1986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Name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P.Akhila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(192425225)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Hymavathi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(192425397)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B.Sahithi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(192525216)</a:t>
            </a:r>
          </a:p>
          <a:p>
            <a:pPr>
              <a:lnSpc>
                <a:spcPct val="150000"/>
              </a:lnSpc>
            </a:pPr>
            <a:r>
              <a:rPr lang="en-US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Ajitha.M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(192525391)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D647-A7AE-67FE-F5D8-F0B1D08B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76F1-5D41-6B25-DB36-386F2795B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2437" y="535494"/>
            <a:ext cx="3063875" cy="652426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Abstract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64429-E5ED-D04D-455E-9CD16B2D3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A174B5F-FB30-4A5C-B089-00665D22B78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33400" y="1692920"/>
            <a:ext cx="7981950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Human Drowning Detection in Swimming Pools Using YOLOv6 with Deep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smart surveillance system for improving swimmer safety.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swimmers and identify possible drowning incidents in real time.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CCTV camera footage is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recognize abnormal movements and drowning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automatic alert is generated to notify lifeguards immediately.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reduces manual monitoring and enables faster emergency response.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an accurate, efficient, and cost-effective solution for drowning detection in swimming pools. </a:t>
            </a:r>
          </a:p>
        </p:txBody>
      </p:sp>
      <p:pic>
        <p:nvPicPr>
          <p:cNvPr id="8" name="Google Shape;2123878948;p1">
            <a:extLst>
              <a:ext uri="{FF2B5EF4-FFF2-40B4-BE49-F238E27FC236}">
                <a16:creationId xmlns:a16="http://schemas.microsoft.com/office/drawing/2014/main" id="{8F088FEC-AE2F-42E8-97D1-67EBE5AB8627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55926" y="226116"/>
            <a:ext cx="978237" cy="115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23878949;p1">
            <a:extLst>
              <a:ext uri="{FF2B5EF4-FFF2-40B4-BE49-F238E27FC236}">
                <a16:creationId xmlns:a16="http://schemas.microsoft.com/office/drawing/2014/main" id="{DD768D6A-F0A5-4307-B54A-AB000CB122EE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55259" y="239751"/>
            <a:ext cx="1247737" cy="9192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1031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A383-D455-43CB-3883-5C0CECB7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729AE-D481-B78B-BFFB-EB615819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6973" y="466136"/>
            <a:ext cx="4435475" cy="635158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Aim and Objective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49EC9-E9AC-78CE-9568-5B6F6F214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6" name="Google Shape;2123878948;p1">
            <a:extLst>
              <a:ext uri="{FF2B5EF4-FFF2-40B4-BE49-F238E27FC236}">
                <a16:creationId xmlns:a16="http://schemas.microsoft.com/office/drawing/2014/main" id="{5EE0B9A1-BC15-4976-A1EF-C02F4B55606E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55926" y="197240"/>
            <a:ext cx="978237" cy="115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23878949;p1">
            <a:extLst>
              <a:ext uri="{FF2B5EF4-FFF2-40B4-BE49-F238E27FC236}">
                <a16:creationId xmlns:a16="http://schemas.microsoft.com/office/drawing/2014/main" id="{2E50FC7C-F100-44A1-89C4-61A7E695B45E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55259" y="239751"/>
            <a:ext cx="1247737" cy="919293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0EECB6-571E-4C49-9B28-62563B29C9D3}"/>
              </a:ext>
            </a:extLst>
          </p:cNvPr>
          <p:cNvSpPr txBox="1"/>
          <p:nvPr/>
        </p:nvSpPr>
        <p:spPr>
          <a:xfrm>
            <a:off x="319238" y="1501696"/>
            <a:ext cx="8598196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Aim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real-time drowning detection system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YOLOv6 and deep learning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continuously monitors swimming pools, detects potential drowning incidents accurately, and provides immediate alerts to enable timely rescue and improve swimmer safety.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real-time drowning detection system using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YOLOv6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track swimmers from CCTV video footage.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drowning behaviour based on body posture and movement patterns.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instant alerts to lifeguards when a drowning incident is detected.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detection accuracy while reducing false alarms.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swimmer safety through fast and automated emergency response. </a:t>
            </a:r>
          </a:p>
        </p:txBody>
      </p:sp>
    </p:spTree>
    <p:extLst>
      <p:ext uri="{BB962C8B-B14F-4D97-AF65-F5344CB8AC3E}">
        <p14:creationId xmlns:p14="http://schemas.microsoft.com/office/powerpoint/2010/main" val="1716889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2862" y="352942"/>
            <a:ext cx="3597275" cy="635158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6" name="Google Shape;2123878949;p1">
            <a:extLst>
              <a:ext uri="{FF2B5EF4-FFF2-40B4-BE49-F238E27FC236}">
                <a16:creationId xmlns:a16="http://schemas.microsoft.com/office/drawing/2014/main" id="{C2378CCB-BFEF-45D1-A942-930A27B2BD2A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55259" y="210875"/>
            <a:ext cx="1247737" cy="919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23878948;p1">
            <a:extLst>
              <a:ext uri="{FF2B5EF4-FFF2-40B4-BE49-F238E27FC236}">
                <a16:creationId xmlns:a16="http://schemas.microsoft.com/office/drawing/2014/main" id="{E4F89B25-0993-4C31-B30D-F675F8B17564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55926" y="197240"/>
            <a:ext cx="978237" cy="11599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BECBA40-0CDC-41F5-90F0-11360F1D3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" y="1822551"/>
            <a:ext cx="7991475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Drowning is a major cause of accidental deaths in swimming pools and requires quick detection.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by lifeguards may not always identify emergencies on time.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and Deep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drowning incidents in real time.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YOLOv6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detects swimmers and analyses their movements to identify possible drowning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instant alerts, helping lifeguards respond quickly and improve swimmer safety.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06583" y="237824"/>
            <a:ext cx="4330834" cy="724783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8" name="Google Shape;2123878948;p1">
            <a:extLst>
              <a:ext uri="{FF2B5EF4-FFF2-40B4-BE49-F238E27FC236}">
                <a16:creationId xmlns:a16="http://schemas.microsoft.com/office/drawing/2014/main" id="{F1C9E537-108B-42DB-BCAC-D32DA57AB42F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41004" y="76200"/>
            <a:ext cx="978237" cy="919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123878949;p1">
            <a:extLst>
              <a:ext uri="{FF2B5EF4-FFF2-40B4-BE49-F238E27FC236}">
                <a16:creationId xmlns:a16="http://schemas.microsoft.com/office/drawing/2014/main" id="{74E86204-B0CE-462C-93D9-310A0D47CDDE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55259" y="119680"/>
            <a:ext cx="1247737" cy="7247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Table 9">
            <a:extLst>
              <a:ext uri="{FF2B5EF4-FFF2-40B4-BE49-F238E27FC236}">
                <a16:creationId xmlns:a16="http://schemas.microsoft.com/office/drawing/2014/main" id="{CAF09F87-6EA1-4F3F-BF5B-CADB94168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815779"/>
              </p:ext>
            </p:extLst>
          </p:nvPr>
        </p:nvGraphicFramePr>
        <p:xfrm>
          <a:off x="365760" y="1386740"/>
          <a:ext cx="8521996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7714">
                  <a:extLst>
                    <a:ext uri="{9D8B030D-6E8A-4147-A177-3AD203B41FA5}">
                      <a16:colId xmlns:a16="http://schemas.microsoft.com/office/drawing/2014/main" val="3089058365"/>
                    </a:ext>
                  </a:extLst>
                </a:gridCol>
                <a:gridCol w="1042475">
                  <a:extLst>
                    <a:ext uri="{9D8B030D-6E8A-4147-A177-3AD203B41FA5}">
                      <a16:colId xmlns:a16="http://schemas.microsoft.com/office/drawing/2014/main" val="2363756833"/>
                    </a:ext>
                  </a:extLst>
                </a:gridCol>
                <a:gridCol w="1003020">
                  <a:extLst>
                    <a:ext uri="{9D8B030D-6E8A-4147-A177-3AD203B41FA5}">
                      <a16:colId xmlns:a16="http://schemas.microsoft.com/office/drawing/2014/main" val="458128715"/>
                    </a:ext>
                  </a:extLst>
                </a:gridCol>
                <a:gridCol w="1427197">
                  <a:extLst>
                    <a:ext uri="{9D8B030D-6E8A-4147-A177-3AD203B41FA5}">
                      <a16:colId xmlns:a16="http://schemas.microsoft.com/office/drawing/2014/main" val="801735833"/>
                    </a:ext>
                  </a:extLst>
                </a:gridCol>
                <a:gridCol w="1427197">
                  <a:extLst>
                    <a:ext uri="{9D8B030D-6E8A-4147-A177-3AD203B41FA5}">
                      <a16:colId xmlns:a16="http://schemas.microsoft.com/office/drawing/2014/main" val="3625348208"/>
                    </a:ext>
                  </a:extLst>
                </a:gridCol>
                <a:gridCol w="1147468">
                  <a:extLst>
                    <a:ext uri="{9D8B030D-6E8A-4147-A177-3AD203B41FA5}">
                      <a16:colId xmlns:a16="http://schemas.microsoft.com/office/drawing/2014/main" val="1852784471"/>
                    </a:ext>
                  </a:extLst>
                </a:gridCol>
                <a:gridCol w="1706925">
                  <a:extLst>
                    <a:ext uri="{9D8B030D-6E8A-4147-A177-3AD203B41FA5}">
                      <a16:colId xmlns:a16="http://schemas.microsoft.com/office/drawing/2014/main" val="8963647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of Publication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Journal / Book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 Used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539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Access – AI-Based Real-Time Drowning Detection in Swimming Pools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CCTV video analysis using deep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high detection accuracy with reduced false alarms and fast response time.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107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 Systems with Applications – Vision-Based Drowning Detection Using Deep Learning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posture and motion analysis from surveillance videos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YOLOv7 + CNN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drowning detection performance under different swimming conditions.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949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 Recognition Letters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 detection and abnormal activity recognition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detection speed and accuracy for water-surveillance applications.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510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Transactions on Intelligent Transportation Systems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video monitoring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R-CNN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Produced reliable human detection but with slower processing than YOLO models.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5531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activity recognition using surveillance videos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classification accuracy but struggled with complex backgrounds.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652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457200"/>
            <a:ext cx="4675751" cy="762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6" name="Google Shape;2123878949;p1">
            <a:extLst>
              <a:ext uri="{FF2B5EF4-FFF2-40B4-BE49-F238E27FC236}">
                <a16:creationId xmlns:a16="http://schemas.microsoft.com/office/drawing/2014/main" id="{E6C69AFB-4F75-4407-85CD-97A52805870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55259" y="181999"/>
            <a:ext cx="1247737" cy="919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23878948;p1">
            <a:extLst>
              <a:ext uri="{FF2B5EF4-FFF2-40B4-BE49-F238E27FC236}">
                <a16:creationId xmlns:a16="http://schemas.microsoft.com/office/drawing/2014/main" id="{588631CE-2CE5-4873-8D41-4B5D74A2D2B0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55926" y="168364"/>
            <a:ext cx="978237" cy="115992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A93B43-FC80-4FBC-B55E-11EA580C012A}"/>
              </a:ext>
            </a:extLst>
          </p:cNvPr>
          <p:cNvSpPr txBox="1"/>
          <p:nvPr/>
        </p:nvSpPr>
        <p:spPr>
          <a:xfrm>
            <a:off x="711466" y="2133600"/>
            <a:ext cx="7829551" cy="2951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1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Existing drowning detection systems using conventional computer vision and earlier deep learning models often experience lower accuracy, higher false alarm rates, and slower real-time performance in swimming pool environments. 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real-time drowning detection system using YOLOv6 and deep learning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detection accuracy, reduce false alarms, and provide instant alerts for timely rescue. </a:t>
            </a:r>
          </a:p>
        </p:txBody>
      </p:sp>
    </p:spTree>
    <p:extLst>
      <p:ext uri="{BB962C8B-B14F-4D97-AF65-F5344CB8AC3E}">
        <p14:creationId xmlns:p14="http://schemas.microsoft.com/office/powerpoint/2010/main" val="213267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3583" y="338450"/>
            <a:ext cx="4000757" cy="762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Existing System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6" name="Google Shape;2123878948;p1">
            <a:extLst>
              <a:ext uri="{FF2B5EF4-FFF2-40B4-BE49-F238E27FC236}">
                <a16:creationId xmlns:a16="http://schemas.microsoft.com/office/drawing/2014/main" id="{866147EB-3990-4157-98D3-06A21E82D44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55926" y="139488"/>
            <a:ext cx="978237" cy="115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23878949;p1">
            <a:extLst>
              <a:ext uri="{FF2B5EF4-FFF2-40B4-BE49-F238E27FC236}">
                <a16:creationId xmlns:a16="http://schemas.microsoft.com/office/drawing/2014/main" id="{5AEEBC56-2317-437C-8801-8BFE51B85C5D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55259" y="181999"/>
            <a:ext cx="1247737" cy="91929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7161F10-939F-4F07-A9D0-2E4691A0E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1363" y="1905000"/>
            <a:ext cx="7621274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Swimming pools mainly rely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lifeguards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continuous monitoring and rescue.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systems 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wearable sensors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basic CCTV surveillance to detect emergencies.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computer vision methods and earlier deep learning models (e.g.,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Cascade, SVM, Faster R-CNN, CNN) have also been used for drowning detection.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systems often suffer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delayed detection, false alarms, limited accuracy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reduced performance in crowded or complex swimming pool environments. </a:t>
            </a:r>
          </a:p>
        </p:txBody>
      </p:sp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269-CE8A-8B51-4415-0C74C2FDC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4D6F-8CC9-CD64-E40C-22419340F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217" y="415492"/>
            <a:ext cx="4381757" cy="6858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Proposed  System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C42CB-C169-FC3B-1F95-5553E3B4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6" name="Google Shape;2123878949;p1">
            <a:extLst>
              <a:ext uri="{FF2B5EF4-FFF2-40B4-BE49-F238E27FC236}">
                <a16:creationId xmlns:a16="http://schemas.microsoft.com/office/drawing/2014/main" id="{BEC9B5AF-5191-4861-80AE-991B6F1DE92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655259" y="153123"/>
            <a:ext cx="1247737" cy="919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23878948;p1">
            <a:extLst>
              <a:ext uri="{FF2B5EF4-FFF2-40B4-BE49-F238E27FC236}">
                <a16:creationId xmlns:a16="http://schemas.microsoft.com/office/drawing/2014/main" id="{42A69630-94F9-4D34-80EF-32E0CED68D03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55926" y="110613"/>
            <a:ext cx="978237" cy="115992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1EF3A3B-F420-40DB-856E-7AE3985185D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1207" y="2035911"/>
            <a:ext cx="8085593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AI-based drowning detection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YOLOv6 and Deep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real-time monitoring.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live CCTV video to detect swimmers and identify drowning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track body posture and movement patterns to improve detection accuracy.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instant alerts to lifeguards when a drowning incident is detected.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faster rescue response, improving swimmer safety and reducing the risk of fatalities. </a:t>
            </a:r>
          </a:p>
        </p:txBody>
      </p:sp>
    </p:spTree>
    <p:extLst>
      <p:ext uri="{BB962C8B-B14F-4D97-AF65-F5344CB8AC3E}">
        <p14:creationId xmlns:p14="http://schemas.microsoft.com/office/powerpoint/2010/main" val="169384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97112" y="317514"/>
            <a:ext cx="4664075" cy="75490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Architecture Design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9</a:t>
            </a:fld>
            <a:endParaRPr lang="en-US" altLang="zh-CN"/>
          </a:p>
        </p:txBody>
      </p:sp>
      <p:pic>
        <p:nvPicPr>
          <p:cNvPr id="6" name="Google Shape;2123878948;p1">
            <a:extLst>
              <a:ext uri="{FF2B5EF4-FFF2-40B4-BE49-F238E27FC236}">
                <a16:creationId xmlns:a16="http://schemas.microsoft.com/office/drawing/2014/main" id="{A9B0137E-599A-4439-827A-9880CAD421B2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55926" y="110613"/>
            <a:ext cx="978237" cy="1159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23878949;p1">
            <a:extLst>
              <a:ext uri="{FF2B5EF4-FFF2-40B4-BE49-F238E27FC236}">
                <a16:creationId xmlns:a16="http://schemas.microsoft.com/office/drawing/2014/main" id="{5A987887-23DF-450D-818C-06DA59633AB7}"/>
              </a:ext>
            </a:extLst>
          </p:cNvPr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655259" y="153123"/>
            <a:ext cx="1247737" cy="919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43D4463-EF24-4777-BA44-AECA4416B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319131"/>
            <a:ext cx="78867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912" y="964573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Design &amp; Module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951" y="504524"/>
            <a:ext cx="624528" cy="827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59241"/>
            <a:ext cx="88582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139F79-0F72-497A-9DBB-91AA8515574D}"/>
              </a:ext>
            </a:extLst>
          </p:cNvPr>
          <p:cNvSpPr txBox="1"/>
          <p:nvPr/>
        </p:nvSpPr>
        <p:spPr>
          <a:xfrm>
            <a:off x="1828800" y="3006218"/>
            <a:ext cx="6096000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Video Data Acquisition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Detection Using YOLOv6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Drowning Behaviour Analysis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Generation and Emergency Response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04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28900" y="451765"/>
            <a:ext cx="3886200" cy="762000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67BD48-98EB-45F7-8FC7-851B431D5DD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5800" y="1755528"/>
            <a:ext cx="8229600" cy="4059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YOLOv6 and Deep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detect drowning incidents in real time.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continuously monitors swimmers through CCTV cameras and identifies potential drowning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high accuracy.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Instant alerts enable lifeguards to respond quickly, reducing rescue time.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minimizes dependence on manual monitoring and helps reduce false alarms.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proposed solution enhances swimmer safety by providing an efficient, reliable, and automated drowning detection system. </a:t>
            </a: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DE61F383-EB04-4350-B2F3-65B4869C1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30365"/>
            <a:ext cx="1143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601CEDBE-948F-40F5-8B3A-50E455FCED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364" y="271080"/>
            <a:ext cx="804479" cy="106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511252"/>
            <a:ext cx="3216275" cy="781225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8C092F3D-04A5-4984-9099-1DE78209A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1489"/>
            <a:ext cx="1143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06F3D197-5F54-4F56-8AA2-3BB18950F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364" y="242204"/>
            <a:ext cx="804479" cy="106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7E92EC0-0EFE-4D93-A181-9BB855D29FE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52228" y="1496854"/>
            <a:ext cx="8639543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Oh, S. H., Park, S. W., &amp; Kim, J. G.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"AI-Based Drowning Detection in UAV-Assisted Coastal Environment."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Information Networking (ICOIN)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IEEE, 2025.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Elhanashi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Saponara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S., Dini, P., et al.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"Intelligent Video Surveillance for Early Drowning Detection Using Deep Learning."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SPIE Real-Time Processing of Image, Depth and Video Information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Ghute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Katole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Hadge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Walke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A.,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Gabhane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"Design of Drowning Rescue Alert System."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2024 8th International Conference on Inventive Systems and Control (ICISC)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IEEE, 2024.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Gao, Q., Pan, J., Zhang, X., &amp; Chen, X.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"Design of Drowning Detection Method Based on YOLOv8."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2024 IEEE 6th International Conference on Civil Aviation Safety and Information Technology (ICCASIT)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IEEE, 2024. </a:t>
            </a:r>
          </a:p>
        </p:txBody>
      </p:sp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E0966-F502-4A0B-A0D1-159B374E8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7/30/2026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CE90B-52F3-4CD0-894E-186A4A04E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3C1DE08B-305E-4013-A118-AE3544E2D1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1489"/>
            <a:ext cx="1143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42C8FFA3-72D1-44C8-8B3D-E2E2D5145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9364" y="242204"/>
            <a:ext cx="804479" cy="10656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2BA971-990D-4D5D-962E-78F6366D095B}"/>
              </a:ext>
            </a:extLst>
          </p:cNvPr>
          <p:cNvSpPr txBox="1"/>
          <p:nvPr/>
        </p:nvSpPr>
        <p:spPr>
          <a:xfrm>
            <a:off x="1143000" y="2819400"/>
            <a:ext cx="701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07983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5977</TotalTime>
  <Words>1051</Words>
  <Application>Microsoft Office PowerPoint</Application>
  <PresentationFormat>On-screen Show (4:3)</PresentationFormat>
  <Paragraphs>141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AvantGarde</vt:lpstr>
      <vt:lpstr>Calibri</vt:lpstr>
      <vt:lpstr>Calibri Light</vt:lpstr>
      <vt:lpstr>Times New Roman</vt:lpstr>
      <vt:lpstr>Office Theme</vt:lpstr>
      <vt:lpstr>PowerPoint Presentation</vt:lpstr>
      <vt:lpstr>Abstract </vt:lpstr>
      <vt:lpstr>Aim and Objective </vt:lpstr>
      <vt:lpstr>Introduction</vt:lpstr>
      <vt:lpstr>Literature Review</vt:lpstr>
      <vt:lpstr>Problem Statement</vt:lpstr>
      <vt:lpstr>Existing System </vt:lpstr>
      <vt:lpstr>Proposed  System </vt:lpstr>
      <vt:lpstr>Architecture Design </vt:lpstr>
      <vt:lpstr>Design &amp; Module Planning</vt:lpstr>
      <vt:lpstr>Conclusion</vt:lpstr>
      <vt:lpstr>References</vt:lpstr>
      <vt:lpstr>PowerPoint Presentation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Akhila PochimiReddy</cp:lastModifiedBy>
  <cp:revision>433</cp:revision>
  <dcterms:created xsi:type="dcterms:W3CDTF">2000-07-06T15:05:59Z</dcterms:created>
  <dcterms:modified xsi:type="dcterms:W3CDTF">2026-07-30T07:49:25Z</dcterms:modified>
</cp:coreProperties>
</file>